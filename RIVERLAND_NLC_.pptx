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9" r:id="rId2"/>
    <p:sldId id="270" r:id="rId3"/>
    <p:sldId id="289" r:id="rId4"/>
    <p:sldId id="258" r:id="rId5"/>
    <p:sldId id="28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9878"/>
    <a:srgbClr val="C4A86B"/>
    <a:srgbClr val="1B2E1B"/>
    <a:srgbClr val="FEFEFE"/>
    <a:srgbClr val="E8DFC4"/>
    <a:srgbClr val="1E3323"/>
    <a:srgbClr val="1D3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82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39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4B0C9-CC43-0723-61C9-09C23845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29E55-9921-8C76-D7B4-35902EE89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B5B15-D283-58D0-49A0-5F131EE01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F1D24-A16D-D9C7-C3B2-F04F463BD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68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104E6-B641-2CC6-C1F8-4753DD84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4A8F9-C35B-126F-E190-EF6B3CDB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3B737-11C0-AD4C-4449-6D8DD5576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24A22-7275-6311-5BED-B1DEF588A1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60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DFB7E8C4-6ADC-5B15-36F9-94AC6436DD72}"/>
              </a:ext>
            </a:extLst>
          </p:cNvPr>
          <p:cNvSpPr/>
          <p:nvPr/>
        </p:nvSpPr>
        <p:spPr>
          <a:xfrm>
            <a:off x="28135" y="-22861"/>
            <a:ext cx="9144000" cy="4709160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2" name="Text 0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ευκαιρία για όλους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Μια Στρατηγική Ευκαιρία Μετασχηματισμού Γης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6350">
            <a:solidFill>
              <a:srgbClr val="C4A86B"/>
            </a:solidFill>
            <a:prstDash val="solid"/>
          </a:ln>
        </p:spPr>
        <p:txBody>
          <a:bodyPr/>
          <a:lstStyle/>
          <a:p>
            <a:endParaRPr lang="en-CY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παρούσα πρόταση αξιοποιεί ένα ειδικό κυβερνητικό πολεοδομικό πρόγραμμα (υπό επισύναψη) που επιτρέπει τη μετατροπή γεωργικής και δασικής γης σε περιοχές οικιστικής και εμπορικής ανάπτυξης, υπό συγκεκριμένες προϋποθέσεις</a:t>
            </a:r>
            <a:r>
              <a:rPr lang="el-GR" sz="120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και περιλαμβάνει</a:t>
            </a:r>
            <a:r>
              <a:rPr lang="en-US" sz="120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60320" cy="1417320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7" name="Text 5"/>
          <p:cNvSpPr/>
          <p:nvPr/>
        </p:nvSpPr>
        <p:spPr>
          <a:xfrm>
            <a:off x="731520" y="197650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22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r>
              <a:rPr lang="en-US" sz="22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387989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τ.μ. ελάχιστη έκταση πρασίνου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62309"/>
            <a:ext cx="2194560" cy="984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 οποία θα προστεθούν επιπλέον 30κ </a:t>
            </a:r>
            <a:r>
              <a:rPr lang="el-GR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</a:t>
            </a: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πρασίνου δημιουργώντας τον μεγαλύτερο οργανωμένο χώρο πρασίνου στην πόλη, με τέσσερα γήπεδα, δίκτυα ποδηλατοδρόμων και πεζοδρόμων καθώς και κατασκηνωτικούς χώρους.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560320" cy="1417320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1" name="Text 9"/>
          <p:cNvSpPr/>
          <p:nvPr/>
        </p:nvSpPr>
        <p:spPr>
          <a:xfrm>
            <a:off x="3566160" y="197650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387989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στρατηγικές αναπτύξεις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3198" y="2755512"/>
            <a:ext cx="2194560" cy="1153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περιβάλλον 50κ </a:t>
            </a:r>
            <a:r>
              <a:rPr lang="el-GR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</a:t>
            </a: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δύναται να αναπτυχθούν οι στρατηγικές επενδύσεις που μεταξύ άλλων αφορούν σε </a:t>
            </a:r>
            <a:r>
              <a:rPr lang="en-US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Κλινικές</a:t>
            </a:r>
            <a:r>
              <a:rPr lang="en-US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Κέντρα Αποκατάστασης,</a:t>
            </a: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Ιδ</a:t>
            </a:r>
            <a:r>
              <a:rPr lang="en-US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Σχολές, </a:t>
            </a:r>
            <a:r>
              <a:rPr lang="en-US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Ερευνητικά</a:t>
            </a:r>
            <a:r>
              <a:rPr lang="en-US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Ινστιτούτ</a:t>
            </a:r>
            <a:r>
              <a:rPr lang="en-US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το εύρος της έκτασης και η τοποθεσία δημιουργούν </a:t>
            </a:r>
            <a:r>
              <a:rPr lang="el-GR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προυποθέσεις</a:t>
            </a: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για αναπτύξεις πραγματικά καινοτόμες χωρίς </a:t>
            </a:r>
            <a:r>
              <a:rPr lang="el-GR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χωραταξικούς</a:t>
            </a: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περιορισμούς.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60320" cy="1417320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5" name="Text 13"/>
          <p:cNvSpPr/>
          <p:nvPr/>
        </p:nvSpPr>
        <p:spPr>
          <a:xfrm>
            <a:off x="6400800" y="197650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22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r>
              <a:rPr lang="en-US" sz="22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387989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τ.μ. </a:t>
            </a:r>
            <a:r>
              <a:rPr lang="el-GR" sz="11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οικιστικός σχεδιασμός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79706" y="2581413"/>
            <a:ext cx="2194560" cy="134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Πρωτοποριακός σχεδιασμός και προσεγμένη προσέγγιση που εξασφαλίζει </a:t>
            </a:r>
            <a:r>
              <a:rPr lang="el-GR" sz="10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ιδιωτικότητα</a:t>
            </a:r>
            <a:r>
              <a:rPr lang="el-GR" sz="10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και υψηλά επίπεδα διαμονής. Τοποθετημένα με απόλυτη ανεξαρτησία στον χώρο δεν δημιουργούν νεόκτιστες γειτονιές αλλά μια πρωτοποριακή κοινότητα που δένει και συμπληρώνει το έργο.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30"/>
            <a:ext cx="8046720" cy="411480"/>
          </a:xfrm>
          <a:prstGeom prst="rect">
            <a:avLst/>
          </a:prstGeom>
          <a:solidFill>
            <a:srgbClr val="C4A86B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9" name="Text 17"/>
          <p:cNvSpPr/>
          <p:nvPr/>
        </p:nvSpPr>
        <p:spPr>
          <a:xfrm>
            <a:off x="731520" y="416053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200" b="1" dirty="0">
                <a:solidFill>
                  <a:srgbClr val="1B2E1B"/>
                </a:solidFill>
                <a:latin typeface="Georgia" pitchFamily="34" charset="0"/>
              </a:rPr>
              <a:t>Η επιτυχία του έργου βρίσκεται στη συνοχή του που εξασφαλίζει μηδενικό ρίσκο και μέγιστη κερδοφορία για το είδος του, καθώς και στη μοναδική τοποθεσία του.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2415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0" y="4709160"/>
            <a:ext cx="2743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 V E R L A N D  300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709160"/>
            <a:ext cx="5486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0DAA54-B7BD-42D7-DBB3-62789D65770A}"/>
              </a:ext>
            </a:extLst>
          </p:cNvPr>
          <p:cNvSpPr/>
          <p:nvPr/>
        </p:nvSpPr>
        <p:spPr>
          <a:xfrm>
            <a:off x="0" y="4663440"/>
            <a:ext cx="914400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36AAD-ED90-49AF-B834-C57B19B80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221AAC-1FF3-D607-D7D6-0E286BC2E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6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82BF8-47E0-BC26-4EA1-D326B8D8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531823-47EC-FE8B-56A1-7EF546768D63}"/>
              </a:ext>
            </a:extLst>
          </p:cNvPr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E8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το όραμα μας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097D5D-468D-05FE-DCB4-52A91997B53D}"/>
              </a:ext>
            </a:extLst>
          </p:cNvPr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Δημιουργούμε μια Νέα Ποιοτική Ο</a:t>
            </a:r>
            <a:r>
              <a:rPr lang="el-GR" sz="1600" b="1" i="1" dirty="0" err="1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λισ</a:t>
            </a:r>
            <a:r>
              <a:rPr lang="en-US" sz="1600" b="1" i="1" dirty="0" err="1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τική</a:t>
            </a:r>
            <a:r>
              <a:rPr lang="en-US" sz="1600" b="1" i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Ταυτότητα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CDE0E9-B915-297D-4786-EDF91230D95E}"/>
              </a:ext>
            </a:extLst>
          </p:cNvPr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C4A86B"/>
            </a:solidFill>
            <a:prstDash val="solid"/>
          </a:ln>
        </p:spPr>
        <p:txBody>
          <a:bodyPr/>
          <a:lstStyle/>
          <a:p>
            <a:endParaRPr lang="en-CY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84C4CBF-A85C-85AB-16FF-BED308596822}"/>
              </a:ext>
            </a:extLst>
          </p:cNvPr>
          <p:cNvSpPr/>
          <p:nvPr/>
        </p:nvSpPr>
        <p:spPr>
          <a:xfrm>
            <a:off x="548640" y="1600200"/>
            <a:ext cx="2560320" cy="54864"/>
          </a:xfrm>
          <a:prstGeom prst="rect">
            <a:avLst/>
          </a:prstGeom>
          <a:solidFill>
            <a:srgbClr val="C4A86B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975A380-155D-26E2-B0F3-C271F6A8A649}"/>
              </a:ext>
            </a:extLst>
          </p:cNvPr>
          <p:cNvSpPr/>
          <p:nvPr/>
        </p:nvSpPr>
        <p:spPr>
          <a:xfrm>
            <a:off x="548640" y="1655064"/>
            <a:ext cx="2560320" cy="2377440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02943C-8EA2-D506-75B4-283586CF45C4}"/>
              </a:ext>
            </a:extLst>
          </p:cNvPr>
          <p:cNvSpPr/>
          <p:nvPr/>
        </p:nvSpPr>
        <p:spPr>
          <a:xfrm>
            <a:off x="73152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400" b="1" dirty="0">
                <a:solidFill>
                  <a:srgbClr val="E8DFC4"/>
                </a:solidFill>
                <a:latin typeface="Georgia" pitchFamily="34" charset="0"/>
              </a:rPr>
              <a:t>Οικιστική Ανάπτυξη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BFB34F-F56D-7E1E-B80E-FA341CF8A01B}"/>
              </a:ext>
            </a:extLst>
          </p:cNvPr>
          <p:cNvSpPr/>
          <p:nvPr/>
        </p:nvSpPr>
        <p:spPr>
          <a:xfrm>
            <a:off x="731520" y="2391506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Πέραν των 100κ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γης παρέχονται ως αντιπαροχή στον επενδυτή ο οποίος μπορεί να αναπτύξει και να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εκμεταλευτεί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28,5κ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συντελεστή δόμησης. Πέραν των 210 οικιστικών μονάδων μπορούν να διατεθούν στην αγορά, με δικαίωμα σταδιακής κατασκευής και παράδοσης. 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F59386-4C66-63CA-BA9B-ED0B75212EAC}"/>
              </a:ext>
            </a:extLst>
          </p:cNvPr>
          <p:cNvSpPr/>
          <p:nvPr/>
        </p:nvSpPr>
        <p:spPr>
          <a:xfrm>
            <a:off x="3383280" y="1600200"/>
            <a:ext cx="2560320" cy="54864"/>
          </a:xfrm>
          <a:prstGeom prst="rect">
            <a:avLst/>
          </a:prstGeom>
          <a:solidFill>
            <a:srgbClr val="C4A86B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5B4C9A0-EA99-8761-87FB-5B9B28841159}"/>
              </a:ext>
            </a:extLst>
          </p:cNvPr>
          <p:cNvSpPr/>
          <p:nvPr/>
        </p:nvSpPr>
        <p:spPr>
          <a:xfrm>
            <a:off x="3383280" y="1655064"/>
            <a:ext cx="2560320" cy="2377440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2E9A62B-73C7-CB75-4E39-38CC0CBEFACE}"/>
              </a:ext>
            </a:extLst>
          </p:cNvPr>
          <p:cNvSpPr/>
          <p:nvPr/>
        </p:nvSpPr>
        <p:spPr>
          <a:xfrm>
            <a:off x="356616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400" b="1" dirty="0">
                <a:solidFill>
                  <a:srgbClr val="E8DFC4"/>
                </a:solidFill>
                <a:latin typeface="Georgia" pitchFamily="34" charset="0"/>
              </a:rPr>
              <a:t>Στρατηγικές Αναπτύξεις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8DC325-D65F-3004-5C09-1EE851B303FC}"/>
              </a:ext>
            </a:extLst>
          </p:cNvPr>
          <p:cNvSpPr/>
          <p:nvPr/>
        </p:nvSpPr>
        <p:spPr>
          <a:xfrm>
            <a:off x="3566160" y="2468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έκταση 25κ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η κάθε μια και με συντελεστή δόμησης 7,5κ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έκαστη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η κάθε στρατηγική ανάπτυξη, δένει άμεσα στον σχεδιασμό ως αναπόσπαστο μέρος του έργου, τοποθετημένες σε ένα αμφιθεατρικό χωροταξικό σχεδιασμό που αναδεικνύει τα προνόμια της τοποθεσίας.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F3545FB-39FA-746A-FD8C-170C8072BC46}"/>
              </a:ext>
            </a:extLst>
          </p:cNvPr>
          <p:cNvSpPr/>
          <p:nvPr/>
        </p:nvSpPr>
        <p:spPr>
          <a:xfrm>
            <a:off x="6217920" y="1600200"/>
            <a:ext cx="2560320" cy="54864"/>
          </a:xfrm>
          <a:prstGeom prst="rect">
            <a:avLst/>
          </a:prstGeom>
          <a:solidFill>
            <a:srgbClr val="C4A86B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54D46D9-668A-A554-CFAC-E3A8B97FFF2B}"/>
              </a:ext>
            </a:extLst>
          </p:cNvPr>
          <p:cNvSpPr/>
          <p:nvPr/>
        </p:nvSpPr>
        <p:spPr>
          <a:xfrm>
            <a:off x="6217920" y="1655064"/>
            <a:ext cx="2560320" cy="2377440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1F5B08-10CF-6954-61B5-3C875046DB6B}"/>
              </a:ext>
            </a:extLst>
          </p:cNvPr>
          <p:cNvSpPr/>
          <p:nvPr/>
        </p:nvSpPr>
        <p:spPr>
          <a:xfrm>
            <a:off x="640080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400" b="1" dirty="0" err="1">
                <a:solidFill>
                  <a:srgbClr val="E8DFC4"/>
                </a:solidFill>
                <a:latin typeface="Georgia" pitchFamily="34" charset="0"/>
              </a:rPr>
              <a:t>Περιβάλλοντες</a:t>
            </a:r>
            <a:r>
              <a:rPr lang="el-GR" sz="1400" b="1" dirty="0">
                <a:solidFill>
                  <a:srgbClr val="E8DFC4"/>
                </a:solidFill>
                <a:latin typeface="Georgia" pitchFamily="34" charset="0"/>
              </a:rPr>
              <a:t> Χώροι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0692BFC-4925-005F-81FC-1C9EF05EEA40}"/>
              </a:ext>
            </a:extLst>
          </p:cNvPr>
          <p:cNvSpPr/>
          <p:nvPr/>
        </p:nvSpPr>
        <p:spPr>
          <a:xfrm>
            <a:off x="6400800" y="2300064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Διπλασιάζουμε την απαιτούμενη ποσότητα πρασίνου και δημιουργούμε ένα δίκτυο ποδηλατοδρόμων και πεζοδρόμων, υπαίθριων αμφιθεάτρων και ανοικτών γηπέδων σε μια έκταση που υπερβαίνει τις 70κ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AA0BA94-8126-4423-CD42-F62C1F1A3FE8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2415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C221891-DC41-ED82-D24E-79B05674DEBD}"/>
              </a:ext>
            </a:extLst>
          </p:cNvPr>
          <p:cNvSpPr/>
          <p:nvPr/>
        </p:nvSpPr>
        <p:spPr>
          <a:xfrm>
            <a:off x="36576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AE86909-6A76-C6AB-C72B-A5469F711CC2}"/>
              </a:ext>
            </a:extLst>
          </p:cNvPr>
          <p:cNvSpPr/>
          <p:nvPr/>
        </p:nvSpPr>
        <p:spPr>
          <a:xfrm>
            <a:off x="3200400" y="4709160"/>
            <a:ext cx="2743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 V E R L A N D  300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4048469-4CD1-09F8-BD8C-5DC8A0495442}"/>
              </a:ext>
            </a:extLst>
          </p:cNvPr>
          <p:cNvSpPr/>
          <p:nvPr/>
        </p:nvSpPr>
        <p:spPr>
          <a:xfrm>
            <a:off x="8229600" y="4709160"/>
            <a:ext cx="5486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9878"/>
                </a:solidFill>
              </a:rPr>
              <a:t>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13F510-3664-555E-AE0E-40147E54B2F7}"/>
              </a:ext>
            </a:extLst>
          </p:cNvPr>
          <p:cNvSpPr/>
          <p:nvPr/>
        </p:nvSpPr>
        <p:spPr>
          <a:xfrm>
            <a:off x="0" y="4663440"/>
            <a:ext cx="914400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822923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301"/>
            <a:ext cx="8335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3600" i="1" dirty="0">
                <a:solidFill>
                  <a:srgbClr val="E8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Τα ΔΕΝ στο σχέδιο μας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03381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 err="1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Δημι</a:t>
            </a:r>
            <a:r>
              <a:rPr lang="el-GR" sz="1600" b="1" i="1" dirty="0" err="1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ουργούμε</a:t>
            </a:r>
            <a:r>
              <a:rPr lang="el-GR" sz="1600" b="1" i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Αποτύπωμα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160581"/>
            <a:ext cx="8046720" cy="0"/>
          </a:xfrm>
          <a:prstGeom prst="line">
            <a:avLst/>
          </a:prstGeom>
          <a:noFill/>
          <a:ln w="6350">
            <a:solidFill>
              <a:srgbClr val="C4A86B"/>
            </a:solidFill>
            <a:prstDash val="solid"/>
          </a:ln>
        </p:spPr>
        <p:txBody>
          <a:bodyPr/>
          <a:lstStyle/>
          <a:p>
            <a:endParaRPr lang="en-CY"/>
          </a:p>
        </p:txBody>
      </p:sp>
      <p:sp>
        <p:nvSpPr>
          <p:cNvPr id="5" name="Shape 3"/>
          <p:cNvSpPr/>
          <p:nvPr/>
        </p:nvSpPr>
        <p:spPr>
          <a:xfrm>
            <a:off x="548640" y="1389181"/>
            <a:ext cx="2560320" cy="54864"/>
          </a:xfrm>
          <a:prstGeom prst="rect">
            <a:avLst/>
          </a:prstGeom>
          <a:solidFill>
            <a:srgbClr val="C4A86B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6" name="Shape 4"/>
          <p:cNvSpPr/>
          <p:nvPr/>
        </p:nvSpPr>
        <p:spPr>
          <a:xfrm>
            <a:off x="548640" y="1444045"/>
            <a:ext cx="2560320" cy="1859294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7" name="Text 5"/>
          <p:cNvSpPr/>
          <p:nvPr/>
        </p:nvSpPr>
        <p:spPr>
          <a:xfrm>
            <a:off x="731520" y="2656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b="1" dirty="0">
                <a:solidFill>
                  <a:srgbClr val="E8DFC4"/>
                </a:solidFill>
                <a:latin typeface="Georgia" pitchFamily="34" charset="0"/>
              </a:rPr>
              <a:t>Οικοσύστημα με θεσμική  δομή  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39269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θέλουμε να σχεδιάσουμε ένα ακόμα έργο, οικιστικής ανάπτυξης </a:t>
            </a:r>
            <a:r>
              <a:rPr lang="en-GB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sell.</a:t>
            </a:r>
            <a:endParaRPr lang="el-GR" sz="1100" dirty="0">
              <a:solidFill>
                <a:srgbClr val="A0987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l-GR" sz="500" dirty="0">
              <a:solidFill>
                <a:srgbClr val="A0987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στοχεύουμε απλά σε μια υψηλής κερδοφορίας επένδυση,</a:t>
            </a:r>
          </a:p>
        </p:txBody>
      </p:sp>
      <p:sp>
        <p:nvSpPr>
          <p:cNvPr id="9" name="Shape 7"/>
          <p:cNvSpPr/>
          <p:nvPr/>
        </p:nvSpPr>
        <p:spPr>
          <a:xfrm>
            <a:off x="3383280" y="1389181"/>
            <a:ext cx="2560320" cy="54864"/>
          </a:xfrm>
          <a:prstGeom prst="rect">
            <a:avLst/>
          </a:prstGeom>
          <a:solidFill>
            <a:srgbClr val="C4A86B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0" name="Shape 8"/>
          <p:cNvSpPr/>
          <p:nvPr/>
        </p:nvSpPr>
        <p:spPr>
          <a:xfrm>
            <a:off x="3383280" y="1444045"/>
            <a:ext cx="2560320" cy="1859294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3" name="Shape 11"/>
          <p:cNvSpPr/>
          <p:nvPr/>
        </p:nvSpPr>
        <p:spPr>
          <a:xfrm>
            <a:off x="6217920" y="1389181"/>
            <a:ext cx="2560320" cy="54864"/>
          </a:xfrm>
          <a:prstGeom prst="rect">
            <a:avLst/>
          </a:prstGeom>
          <a:solidFill>
            <a:srgbClr val="C4A86B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4" name="Shape 12"/>
          <p:cNvSpPr/>
          <p:nvPr/>
        </p:nvSpPr>
        <p:spPr>
          <a:xfrm>
            <a:off x="6217920" y="1444045"/>
            <a:ext cx="2560320" cy="1859294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2415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0" y="4709160"/>
            <a:ext cx="2743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 V E R L A N D  300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709160"/>
            <a:ext cx="5486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1CDDA2-3F41-F769-867E-5674F889F05E}"/>
              </a:ext>
            </a:extLst>
          </p:cNvPr>
          <p:cNvSpPr/>
          <p:nvPr/>
        </p:nvSpPr>
        <p:spPr>
          <a:xfrm>
            <a:off x="0" y="4663440"/>
            <a:ext cx="914400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7416BAC-3F78-39AA-6A4F-C4D0E0435396}"/>
              </a:ext>
            </a:extLst>
          </p:cNvPr>
          <p:cNvSpPr/>
          <p:nvPr/>
        </p:nvSpPr>
        <p:spPr>
          <a:xfrm>
            <a:off x="3556772" y="26329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b="1" dirty="0">
                <a:solidFill>
                  <a:srgbClr val="E8DFC4"/>
                </a:solidFill>
                <a:latin typeface="Georgia" pitchFamily="34" charset="0"/>
              </a:rPr>
              <a:t>Αποτύπωμα στον χώρο που ξεχωρίζει </a:t>
            </a:r>
            <a:endParaRPr lang="en-US" sz="11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CF10DAAD-DE80-DFDD-3C9B-90B7529FBD7F}"/>
              </a:ext>
            </a:extLst>
          </p:cNvPr>
          <p:cNvSpPr/>
          <p:nvPr/>
        </p:nvSpPr>
        <p:spPr>
          <a:xfrm>
            <a:off x="3570836" y="138330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l-GR" sz="500" dirty="0">
              <a:solidFill>
                <a:srgbClr val="A0987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σταματάμε στα πρέπει. Σχεδιάζουμε δημιουργώντας αποτύπωμα. Προσθέτουμε στα απαιτούμενα 40κ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πρασίνου, επιπλέον 30κ, για να φτιάξουμε τον μεγαλύτερο οργανωμένο πνεύμονα πρασίνου στην πόλη.</a:t>
            </a: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33B4238-A96E-EB65-F4AE-80105659727D}"/>
              </a:ext>
            </a:extLst>
          </p:cNvPr>
          <p:cNvSpPr/>
          <p:nvPr/>
        </p:nvSpPr>
        <p:spPr>
          <a:xfrm>
            <a:off x="6403120" y="2637565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b="1" dirty="0">
                <a:solidFill>
                  <a:srgbClr val="E8DFC4"/>
                </a:solidFill>
                <a:latin typeface="Georgia" pitchFamily="34" charset="0"/>
              </a:rPr>
              <a:t>Αναπτύξεις υψηλής εσωτερικής αξίας  </a:t>
            </a:r>
            <a:endParaRPr lang="en-US" sz="11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A9C0422E-8647-22FF-691A-88C3875FF7F7}"/>
              </a:ext>
            </a:extLst>
          </p:cNvPr>
          <p:cNvSpPr/>
          <p:nvPr/>
        </p:nvSpPr>
        <p:spPr>
          <a:xfrm>
            <a:off x="6419519" y="131181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μετασχηματίζουμε για να πωλήσουμε. Η ολιστική μας προσέγγιση δένει τις Στρατηγικές Αναπτύξεις με όλες τις υπόλοιπες πτυχές του έργου </a:t>
            </a:r>
            <a:r>
              <a:rPr lang="el-GR" sz="1100" dirty="0" err="1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προσθέτωντας</a:t>
            </a:r>
            <a:r>
              <a:rPr lang="el-GR" sz="11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στην υψηλή υφιστάμενη αξία του. </a:t>
            </a:r>
          </a:p>
        </p:txBody>
      </p:sp>
      <p:pic>
        <p:nvPicPr>
          <p:cNvPr id="26" name="Picture 25" descr="A group of kids playing on a playground&#10;&#10;AI-generated content may be incorrect.">
            <a:extLst>
              <a:ext uri="{FF2B5EF4-FFF2-40B4-BE49-F238E27FC236}">
                <a16:creationId xmlns:a16="http://schemas.microsoft.com/office/drawing/2014/main" id="{7757F6FE-711F-7C38-1EFC-9B6481FB9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1" y="3471211"/>
            <a:ext cx="2560320" cy="1012565"/>
          </a:xfrm>
          <a:prstGeom prst="rect">
            <a:avLst/>
          </a:prstGeom>
        </p:spPr>
      </p:pic>
      <p:pic>
        <p:nvPicPr>
          <p:cNvPr id="27" name="Picture 26" descr="A house with a pool in the yard&#10;&#10;AI-generated content may be incorrect.">
            <a:extLst>
              <a:ext uri="{FF2B5EF4-FFF2-40B4-BE49-F238E27FC236}">
                <a16:creationId xmlns:a16="http://schemas.microsoft.com/office/drawing/2014/main" id="{6AE4C504-EBA7-6DDF-2C87-2C36638F1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470330"/>
            <a:ext cx="2560320" cy="1012566"/>
          </a:xfrm>
          <a:prstGeom prst="rect">
            <a:avLst/>
          </a:prstGeom>
        </p:spPr>
      </p:pic>
      <p:pic>
        <p:nvPicPr>
          <p:cNvPr id="28" name="Picture 27" descr="A house with a driveway and cars&#10;&#10;AI-generated content may be incorrect.">
            <a:extLst>
              <a:ext uri="{FF2B5EF4-FFF2-40B4-BE49-F238E27FC236}">
                <a16:creationId xmlns:a16="http://schemas.microsoft.com/office/drawing/2014/main" id="{1FBD45F8-42C9-8B8A-9E59-51A168F5C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70331"/>
            <a:ext cx="2560320" cy="10125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DFC75339-A654-1458-D668-9BA9C87A8969}"/>
              </a:ext>
            </a:extLst>
          </p:cNvPr>
          <p:cNvSpPr/>
          <p:nvPr/>
        </p:nvSpPr>
        <p:spPr>
          <a:xfrm>
            <a:off x="0" y="0"/>
            <a:ext cx="9144000" cy="4663440"/>
          </a:xfrm>
          <a:prstGeom prst="rect">
            <a:avLst/>
          </a:prstGeom>
          <a:solidFill>
            <a:srgbClr val="2C4A2C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2" name="Text 0"/>
          <p:cNvSpPr/>
          <p:nvPr/>
        </p:nvSpPr>
        <p:spPr>
          <a:xfrm>
            <a:off x="548640" y="228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διαφορά μας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6350">
            <a:solidFill>
              <a:srgbClr val="C4A86B"/>
            </a:solidFill>
            <a:prstDash val="solid"/>
          </a:ln>
        </p:spPr>
        <p:txBody>
          <a:bodyPr/>
          <a:lstStyle/>
          <a:p>
            <a:endParaRPr lang="en-CY"/>
          </a:p>
        </p:txBody>
      </p:sp>
      <p:sp>
        <p:nvSpPr>
          <p:cNvPr id="4" name="Text 2"/>
          <p:cNvSpPr/>
          <p:nvPr/>
        </p:nvSpPr>
        <p:spPr>
          <a:xfrm>
            <a:off x="548640" y="917917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Σε αριθμούς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79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r>
              <a:rPr lang="el-GR" sz="42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sz="42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377440" y="12836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πιθανότητες κερδοφορίας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221" y="1392692"/>
            <a:ext cx="4227339" cy="327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Μηδενικό κόστος επένδυσης σε γη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05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εταιρεία διατηρεί ρευστότητα μέχρι την έναρξη του έργου.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Μοναδικός σχεδιασμός</a:t>
            </a:r>
            <a:endParaRPr lang="en-US" sz="1200" dirty="0"/>
          </a:p>
          <a:p>
            <a:pPr>
              <a:spcAft>
                <a:spcPts val="800"/>
              </a:spcAft>
              <a:buSzPct val="100000"/>
            </a:pPr>
            <a:r>
              <a:rPr lang="el-GR" sz="105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αποτελεί ένα ακόμη μεγάλο οικιστικό έργο. Εξειδικεύεται και ξεχωρίζει. Ο μοναδικός του σχεδιασμός προσδίδει μεγάλη προστιθέμενη αξία αφού οι Στρατηγικές Αναπτύξεις  και ο μεγαλύτερος σε έκταση χώρος πρασίνου στην πόλη, συνθέτουν μια ελκυστική ευκαιρία υψηλής μεταπολιτικής αξίας. </a:t>
            </a:r>
            <a:endParaRPr lang="en-US" sz="1050" dirty="0"/>
          </a:p>
          <a:p>
            <a:pPr marL="0" indent="0">
              <a:buNone/>
            </a:pPr>
            <a:r>
              <a:rPr lang="en-US" sz="1200" b="1" dirty="0" err="1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Εγγύτητ</a:t>
            </a:r>
            <a:r>
              <a:rPr lang="en-US" sz="12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&amp; Τοποθεσία</a:t>
            </a:r>
            <a:endParaRPr lang="en-US" sz="1200" dirty="0"/>
          </a:p>
          <a:p>
            <a:pPr>
              <a:buSzPct val="100000"/>
            </a:pPr>
            <a:r>
              <a:rPr lang="el-GR" sz="105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εγγύτητα του τόσο στον αυτοκινητόδρομο όσο και προς τη θάλασσα ή το κέντρο της πόλης, σε συνδυασμό με την χωροταξική τοποθέτηση του, τη θέα και την ηρεμία της περιοχής, απλά εγγυούνται την επιτυχία του έργου.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0" cy="3474720"/>
          </a:xfrm>
          <a:prstGeom prst="line">
            <a:avLst/>
          </a:prstGeom>
          <a:noFill/>
          <a:ln w="12700">
            <a:solidFill>
              <a:srgbClr val="C4A86B"/>
            </a:solidFill>
            <a:prstDash val="solid"/>
          </a:ln>
        </p:spPr>
        <p:txBody>
          <a:bodyPr/>
          <a:lstStyle/>
          <a:p>
            <a:endParaRPr lang="en-CY"/>
          </a:p>
        </p:txBody>
      </p:sp>
      <p:sp>
        <p:nvSpPr>
          <p:cNvPr id="9" name="Text 7"/>
          <p:cNvSpPr/>
          <p:nvPr/>
        </p:nvSpPr>
        <p:spPr>
          <a:xfrm>
            <a:off x="5029200" y="917917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Σε χρόνο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αδειοδότηση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Αναλαμβάνουμε και τα 3 στάδια υποβολής και επίβλεψης.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2377440"/>
            <a:ext cx="3749040" cy="0"/>
          </a:xfrm>
          <a:prstGeom prst="line">
            <a:avLst/>
          </a:prstGeom>
          <a:noFill/>
          <a:ln w="6350">
            <a:solidFill>
              <a:srgbClr val="C4A86B"/>
            </a:solidFill>
            <a:prstDash val="solid"/>
          </a:ln>
        </p:spPr>
        <p:txBody>
          <a:bodyPr/>
          <a:lstStyle/>
          <a:p>
            <a:endParaRPr lang="en-CY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διάστημα έγκρισης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Προπαρασκευαστικές εργασίες και προώθηση καθόλη τη διάρκεια.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3429000"/>
            <a:ext cx="3749040" cy="0"/>
          </a:xfrm>
          <a:prstGeom prst="line">
            <a:avLst/>
          </a:prstGeom>
          <a:noFill/>
          <a:ln w="6350">
            <a:solidFill>
              <a:srgbClr val="C4A86B"/>
            </a:solidFill>
            <a:prstDash val="solid"/>
          </a:ln>
        </p:spPr>
        <p:txBody>
          <a:bodyPr/>
          <a:lstStyle/>
          <a:p>
            <a:endParaRPr lang="en-CY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φάσεις υλοποίησης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Υλοποίηση σε φάσεις με δικαίωμα διακοπής από τον επενδυτή.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2415"/>
          </a:solidFill>
          <a:ln/>
        </p:spPr>
        <p:txBody>
          <a:bodyPr/>
          <a:lstStyle/>
          <a:p>
            <a:endParaRPr lang="en-CY"/>
          </a:p>
        </p:txBody>
      </p:sp>
      <p:sp>
        <p:nvSpPr>
          <p:cNvPr id="19" name="Text 17"/>
          <p:cNvSpPr/>
          <p:nvPr/>
        </p:nvSpPr>
        <p:spPr>
          <a:xfrm>
            <a:off x="36576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4709160"/>
            <a:ext cx="2743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 V E R L A N D  300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5486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9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F132DD-F431-9DE0-6409-1DE66D090273}"/>
              </a:ext>
            </a:extLst>
          </p:cNvPr>
          <p:cNvSpPr/>
          <p:nvPr/>
        </p:nvSpPr>
        <p:spPr>
          <a:xfrm>
            <a:off x="0" y="4663440"/>
            <a:ext cx="914400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3593</TotalTime>
  <Words>630</Words>
  <Application>Microsoft Office PowerPoint</Application>
  <PresentationFormat>On-screen Show (16:9)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 LAND</dc:title>
  <dc:subject>PptxGenJS Presentation</dc:subject>
  <dc:creator>NLC - Next Level Consulting</dc:creator>
  <cp:lastModifiedBy>Harry Plotter</cp:lastModifiedBy>
  <cp:revision>41</cp:revision>
  <dcterms:created xsi:type="dcterms:W3CDTF">2026-02-16T17:45:48Z</dcterms:created>
  <dcterms:modified xsi:type="dcterms:W3CDTF">2026-03-05T18:46:58Z</dcterms:modified>
</cp:coreProperties>
</file>